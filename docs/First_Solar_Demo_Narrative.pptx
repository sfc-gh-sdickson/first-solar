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f_logo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2468880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583680"/>
            <a:ext cx="12191695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f_icon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097280"/>
            <a:ext cx="773413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</a:defRPr>
            </a:pPr>
            <a:r>
              <a:t>First Solar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9B5E8"/>
                </a:solidFill>
              </a:defRPr>
            </a:pPr>
            <a:r>
              <a:t>Supply Chain Intelligence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6B7B8D"/>
                </a:solidFill>
              </a:defRPr>
            </a:pPr>
            <a:r>
              <a:t>Snowflake Intelligence  |  CdTe Manufacturing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B8D"/>
                </a:solidFill>
              </a:defRPr>
            </a:pPr>
            <a:r>
              <a:t>4-Act Demo Narrative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3200400" cy="73152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Alabama | 3,500 MW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5303520"/>
            <a:ext cx="3200400" cy="73152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Ohio | 3,300 MW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5303520"/>
            <a:ext cx="3200400" cy="73152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Louisiana | 3,500 MW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f_logo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2468880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583680"/>
            <a:ext cx="12191695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1273F"/>
                </a:solidFill>
              </a:defRPr>
            </a:pPr>
            <a:r>
              <a:t>The Core Message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15600" cy="3657600"/>
          </a:xfrm>
          <a:prstGeom prst="roundRect">
            <a:avLst/>
          </a:prstGeom>
          <a:solidFill>
            <a:srgbClr val="112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011680"/>
            <a:ext cx="9601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"The point isn't that Snowflake's LLM is smarter than Oracle's.</a:t>
            </a:r>
            <a:br/>
            <a:br/>
            <a:r>
              <a:t>Oracle sees what's happening inside First Solar's transactional systems.</a:t>
            </a:r>
            <a:br/>
            <a:br/>
            <a:r>
              <a:t>Snowflake combines that with manufacturing data and what's happening outside First Solar.</a:t>
            </a:r>
            <a:br/>
            <a:br/>
            <a:r>
              <a:t>Same question + broader context = better decision."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5100"/>
                </a:solidFill>
              </a:defRPr>
            </a:pPr>
            <a:r>
              <a:t>SAY THIS AT THE OPEN AND THE CLOSE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f_logo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2468880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583680"/>
            <a:ext cx="12191695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1273F"/>
                </a:solidFill>
              </a:defRPr>
            </a:pPr>
            <a:r>
              <a:t>The Primary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B8D"/>
                </a:solidFill>
              </a:defRPr>
            </a:pPr>
            <a:r>
              <a:t>Ask this THREE TIMES through the demo: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10972800" cy="1371600"/>
          </a:xfrm>
          <a:prstGeom prst="roundRect">
            <a:avLst/>
          </a:prstGeom>
          <a:solidFill>
            <a:srgbClr val="112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FFFFFF"/>
                </a:solidFill>
              </a:defRPr>
            </a:pPr>
            <a:r>
              <a:t>"Are there any emerging supply-chain risks that could cause us</a:t>
            </a:r>
            <a:br/>
            <a:r>
              <a:t>to miss our production plan over the next 90 days?"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457200" cy="4572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931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7D32"/>
                </a:solidFill>
              </a:defRPr>
            </a:pPr>
            <a:r>
              <a:t>Act 1:  "No material risk identified."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457200" cy="4572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5100"/>
                </a:solidFill>
              </a:defRPr>
            </a:pPr>
            <a:r>
              <a:t>Act 3:  "ELEVATED RISK — 134 MW at risk at Alabama"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212080"/>
            <a:ext cx="457200" cy="4572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A1B9A"/>
                </a:solidFill>
              </a:defRPr>
            </a:pPr>
            <a:r>
              <a:t>Act 4:  "Expedite, transfer from Ohio, qualify Guardian Glass"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f_logo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2468880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583680"/>
            <a:ext cx="12191695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77240"/>
            <a:ext cx="1463040" cy="4572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ACT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777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1273F"/>
                </a:solidFill>
              </a:defRPr>
            </a:pPr>
            <a:r>
              <a:t>Oracle / ERP View — Everything Looks Healthy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515600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273F"/>
                </a:solidFill>
              </a:defRPr>
            </a:pPr>
            <a:r>
              <a:t>ABC Glass Industries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</a:defRPr>
            </a:pPr>
            <a:r>
              <a:t>Primary substrate glass supplier — Monterrey, Mexico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10515600" cy="868680"/>
          </a:xfrm>
          <a:prstGeom prst="round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273F"/>
                </a:solidFill>
              </a:defRPr>
            </a:pPr>
            <a:r>
              <a:t>On-Time Delivery: 97%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17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</a:defRPr>
            </a:pPr>
            <a:r>
              <a:t>Quality pass rate: 99.5%  |  Risk score: 2.0/10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66160"/>
            <a:ext cx="10515600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273F"/>
                </a:solidFill>
              </a:defRPr>
            </a:pPr>
            <a:r>
              <a:t>Open POs: All On Schedule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023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</a:defRPr>
            </a:pPr>
            <a:r>
              <a:t>Expected delivery dates confirmed, no TMS flags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572000"/>
            <a:ext cx="10515600" cy="868680"/>
          </a:xfrm>
          <a:prstGeom prst="round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273F"/>
                </a:solidFill>
              </a:defRPr>
            </a:pPr>
            <a:r>
              <a:t>Alabama Glass Inventory: 18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29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</a:defRPr>
            </a:pPr>
            <a:r>
              <a:t>Forward coverage above minimum threshold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120640"/>
            <a:ext cx="10515600" cy="8229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2120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Agent: "No material supply risk identified. Inventory coverage adequate."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65100"/>
                </a:solidFill>
              </a:defRPr>
            </a:pPr>
            <a:r>
              <a:t>DIRECTOR: Oracle is RIGHT here. Data boundary, not failure.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f_logo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2468880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583680"/>
            <a:ext cx="12191695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77240"/>
            <a:ext cx="1463040" cy="4572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ACT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777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1273F"/>
                </a:solidFill>
              </a:defRPr>
            </a:pPr>
            <a:r>
              <a:t>+ Manufacturing Context — Still Manageable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Daily glass consumption: ~530 panels/day at Alabama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Series 7 ramping for Q2 — NextEra, Invenergy commitments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3463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BOM constraint: 1 substrate glass per module, NO substitute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74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18 days coverage at burn rate = zero buffer for disruption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Deliveries MUST arrive on time to maintain production plan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515600" cy="82296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50292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Agent: "Tight but manageable if deliveries arrive on time."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65100"/>
                </a:solidFill>
              </a:defRPr>
            </a:pPr>
            <a:r>
              <a:t>Sets up WHY the external layer is the unlock.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f_logo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2468880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583680"/>
            <a:ext cx="12191695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1463040" cy="4572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ACT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731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5100"/>
                </a:solidFill>
              </a:defRPr>
            </a:pPr>
            <a:r>
              <a:t>External Marketplace Signal — THE REVEAL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</a:defRPr>
            </a:pPr>
            <a:r>
              <a:t>Snowflake Marketplace trade/shipping data surfaces lane deterioration: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2560320" cy="1371600"/>
          </a:xfrm>
          <a:prstGeom prst="roundRect">
            <a:avLst/>
          </a:prstGeom>
          <a:solidFill>
            <a:srgbClr val="1A2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8D"/>
                </a:solidFill>
              </a:defRPr>
            </a:pPr>
            <a:r>
              <a:t>Export Volume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62828"/>
                </a:solidFill>
              </a:defRPr>
            </a:pPr>
            <a:r>
              <a:t>DOWN 19%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100 → 82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737360"/>
            <a:ext cx="2560320" cy="1371600"/>
          </a:xfrm>
          <a:prstGeom prst="roundRect">
            <a:avLst/>
          </a:prstGeom>
          <a:solidFill>
            <a:srgbClr val="1A2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8D"/>
                </a:solidFill>
              </a:defRPr>
            </a:pPr>
            <a:r>
              <a:t>Port Dwell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103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62828"/>
                </a:solidFill>
              </a:defRPr>
            </a:pPr>
            <a:r>
              <a:t>UP 71%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7432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25h → 43h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737360"/>
            <a:ext cx="2560320" cy="1371600"/>
          </a:xfrm>
          <a:prstGeom prst="roundRect">
            <a:avLst/>
          </a:prstGeom>
          <a:solidFill>
            <a:srgbClr val="1A2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8D"/>
                </a:solidFill>
              </a:defRPr>
            </a:pPr>
            <a:r>
              <a:t>Delay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103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62828"/>
                </a:solidFill>
              </a:defRPr>
            </a:pPr>
            <a:r>
              <a:t>0% → 4.5%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7432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Emerging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737360"/>
            <a:ext cx="2560320" cy="1371600"/>
          </a:xfrm>
          <a:prstGeom prst="roundRect">
            <a:avLst/>
          </a:prstGeom>
          <a:solidFill>
            <a:srgbClr val="1A2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8D"/>
                </a:solidFill>
              </a:defRPr>
            </a:pPr>
            <a:r>
              <a:t>Transit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103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62828"/>
                </a:solidFill>
              </a:defRPr>
            </a:pPr>
            <a:r>
              <a:t>UP 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27432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3.0d → 4.5d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383280"/>
            <a:ext cx="11247120" cy="16459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474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Agent: "Alabama has ELEVATED substrate-glass supply risk.</a:t>
            </a:r>
            <a:br/>
            <a:r>
              <a:t>Inventory: 18 days. Oracle shows on-schedule, but external shipping data</a:t>
            </a:r>
            <a:br/>
            <a:r>
              <a:t>indicates deteriorating activity on the ABC Glass lane.</a:t>
            </a:r>
            <a:br/>
            <a:r>
              <a:t>A 2-week disruption puts ~134 MW of production at risk."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65100"/>
                </a:solidFill>
              </a:defRPr>
            </a:pPr>
            <a:r>
              <a:t>DIRECTOR: "External signal is simulated. In production = live Marketplace dataset."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f_logo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2468880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583680"/>
            <a:ext cx="12191695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77240"/>
            <a:ext cx="1463040" cy="4572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ACT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777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1273F"/>
                </a:solidFill>
              </a:defRPr>
            </a:pPr>
            <a:r>
              <a:t>Operate the Business — Action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</a:defRPr>
            </a:pPr>
            <a:r>
              <a:t>"What should we do about the substrate glass risk?"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51760" cy="20116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1. EXPEDITE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ABC Glass — expedite</a:t>
            </a:r>
            <a:br/>
            <a:r>
              <a:t>in-transit shipments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920240"/>
            <a:ext cx="2651760" cy="201168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011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2. TRANSFER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4688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Ohio → Alabama</a:t>
            </a:r>
            <a:br/>
            <a:r>
              <a:t>45d surplus, 2-day transit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920240"/>
            <a:ext cx="2651760" cy="201168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11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3. QUALIFY ALT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688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Guardian Glass (MI)</a:t>
            </a:r>
            <a:br/>
            <a:r>
              <a:t>emergency supply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1920240"/>
            <a:ext cx="2651760" cy="201168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2011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4. PRIORITIZE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24688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NextEra Q2, Invenergy</a:t>
            </a:r>
            <a:br/>
            <a:r>
              <a:t>Magnolia commitments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97680"/>
            <a:ext cx="10515600" cy="822960"/>
          </a:xfrm>
          <a:prstGeom prst="roundRect">
            <a:avLst/>
          </a:prstGeom>
          <a:solidFill>
            <a:srgbClr val="112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438912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9B5E8"/>
                </a:solidFill>
              </a:defRPr>
            </a:pPr>
            <a:r>
              <a:t>CLOSE: "You choose the model, control the cost, human in the loop."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65100"/>
                </a:solidFill>
              </a:defRPr>
            </a:pPr>
            <a:r>
              <a:t>AI that operates the business, not just answers questions.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f_logo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2468880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583680"/>
            <a:ext cx="12191695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1273F"/>
                </a:solidFill>
              </a:defRPr>
            </a:pPr>
            <a:r>
              <a:t>Impact — Land It in Their Units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029200" cy="3474720"/>
          </a:xfrm>
          <a:prstGeom prst="roundRect">
            <a:avLst/>
          </a:prstGeom>
          <a:solidFill>
            <a:srgbClr val="112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8D"/>
                </a:solidFill>
              </a:defRPr>
            </a:pPr>
            <a:r>
              <a:t>Production at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10312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C62828"/>
                </a:solidFill>
              </a:defRPr>
            </a:pPr>
            <a:r>
              <a:t>~134 MW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~$40M Revenue Exposure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023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B8D"/>
                </a:solidFill>
              </a:defRPr>
            </a:pPr>
            <a:r>
              <a:t>14d × 9.6 MW/day @ $0.30/W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Alabama: 3,500 MW ÷ 365 = 9.6 MW/day</a:t>
            </a:r>
            <a:br/>
            <a:br/>
            <a:r>
              <a:t>Glass coverage: 18 days</a:t>
            </a:r>
            <a:br/>
            <a:br/>
            <a:r>
              <a:t>2-week delay beyond coverage:</a:t>
            </a:r>
            <a:br/>
            <a:r>
              <a:t>  14 × 9.6 = 134 MW</a:t>
            </a:r>
            <a:br/>
            <a:br/>
            <a:r>
              <a:t>At $0.30/W ASP:</a:t>
            </a:r>
            <a:br/>
            <a:r>
              <a:t>  134 MW × $300K = ~$40M</a:t>
            </a:r>
            <a:br/>
            <a:br/>
            <a:r>
              <a:t>Customers:</a:t>
            </a:r>
            <a:br/>
            <a:r>
              <a:t>  NextEra Q2 commissioning</a:t>
            </a:r>
            <a:br/>
            <a:r>
              <a:t>  Invenergy Magnolia Solar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65100"/>
                </a:solidFill>
              </a:defRPr>
            </a:pPr>
            <a:r>
              <a:t>ALWAYS land in MW and $. That makes the CSCO lean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f_logo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2468880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583680"/>
            <a:ext cx="12191695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1273F"/>
                </a:solidFill>
              </a:defRPr>
            </a:pPr>
            <a:r>
              <a:t>Agent Architecture — 11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54864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FIRST_SOLAR_AGENT  |  YAML  |  15 Sample Questions  |  60s / 32K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9B5E8"/>
                </a:solidFill>
              </a:defRPr>
            </a:pPr>
            <a:r>
              <a:t>Cortex Analyst (3)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3383280" cy="59436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SupplyChainOps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91839"/>
            <a:ext cx="3383280" cy="59436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ManufacturingDemand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3383280" cy="59436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RiskIntelligence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2103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7D32"/>
                </a:solidFill>
              </a:defRPr>
            </a:pPr>
            <a:r>
              <a:t>Cortex Search (4)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560320"/>
            <a:ext cx="3383280" cy="5943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OperationalNotes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3291839"/>
            <a:ext cx="3383280" cy="5943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SupplierEvents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4023360"/>
            <a:ext cx="3383280" cy="5943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RiskProfiles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754880"/>
            <a:ext cx="3383280" cy="5943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ExternalSignals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103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65100"/>
                </a:solidFill>
              </a:defRPr>
            </a:pPr>
            <a:r>
              <a:t>UDF Functions (4)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560320"/>
            <a:ext cx="3383280" cy="59436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StockoutPredictor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291839"/>
            <a:ext cx="3383280" cy="59436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DemandForecast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4023360"/>
            <a:ext cx="3383280" cy="59436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MaterialRisk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754880"/>
            <a:ext cx="3383280" cy="59436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SupplyChainKPIs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f_logo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2468880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583680"/>
            <a:ext cx="12191695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1273F"/>
                </a:solidFill>
              </a:defRPr>
            </a:pPr>
            <a:r>
              <a:t>Demo Flow — The Arc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560320" cy="1645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ACT 1</a:t>
            </a:r>
            <a:br/>
            <a:r>
              <a:t>Oracle:</a:t>
            </a:r>
            <a:br/>
            <a:r>
              <a:t>no risk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63240" y="2286000"/>
            <a:ext cx="274320" cy="274320"/>
          </a:xfrm>
          <a:prstGeom prst="rightArrow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1645920"/>
            <a:ext cx="2560320" cy="164592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ACT 2</a:t>
            </a:r>
            <a:br/>
            <a:r>
              <a:t>+ Mfg</a:t>
            </a:r>
            <a:br/>
            <a:r>
              <a:t>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89320" y="2286000"/>
            <a:ext cx="274320" cy="274320"/>
          </a:xfrm>
          <a:prstGeom prst="rightArrow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560320" cy="164592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ACT 3</a:t>
            </a:r>
            <a:br/>
            <a:r>
              <a:t>+ External:</a:t>
            </a:r>
            <a:br/>
            <a:r>
              <a:t>risk found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915400" y="2286000"/>
            <a:ext cx="274320" cy="274320"/>
          </a:xfrm>
          <a:prstGeom prst="rightArrow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35440" y="1645920"/>
            <a:ext cx="2560320" cy="164592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ACT 4</a:t>
            </a:r>
            <a:br/>
            <a:r>
              <a:t>Recommend</a:t>
            </a:r>
            <a:br/>
            <a:r>
              <a:t>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49039"/>
            <a:ext cx="11155680" cy="2103120"/>
          </a:xfrm>
          <a:prstGeom prst="roundRect">
            <a:avLst/>
          </a:prstGeom>
          <a:solidFill>
            <a:srgbClr val="112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40480"/>
            <a:ext cx="10241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The arc in one line:</a:t>
            </a:r>
            <a:br/>
            <a:br/>
            <a:r>
              <a:t>Oracle says no risk → add manufacturing + external context →</a:t>
            </a:r>
            <a:br/>
            <a:r>
              <a:t>same question, real risk surfaced and quantified in MW →</a:t>
            </a:r>
            <a:br/>
            <a:r>
              <a:t>agent recommends cross-site action →</a:t>
            </a:r>
            <a:br/>
            <a:r>
              <a:t>AI that helps OPERATE the business, not just answer questions.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f_logo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2468880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583680"/>
            <a:ext cx="12191695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1273F"/>
                </a:solidFill>
              </a:defRPr>
            </a:pPr>
            <a:r>
              <a:t>Presenter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9B5E8"/>
                </a:solidFill>
              </a:defRPr>
            </a:pPr>
            <a:r>
              <a:t>Persona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463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VP Global Supply Chain / Manufacturing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9B5E8"/>
                </a:solidFill>
              </a:defRPr>
            </a:pPr>
            <a:r>
              <a:t>Open/Close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039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Lead and close with the core message (Slide 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15184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9B5E8"/>
                </a:solidFill>
              </a:defRPr>
            </a:pPr>
            <a:r>
              <a:t>Protect Oracle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61518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"That's a data boundary, not a failure" — say it out 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9125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9B5E8"/>
                </a:solidFill>
              </a:defRPr>
            </a:pPr>
            <a:r>
              <a:t>Flag Synthetic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191256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"External signal is simulated; in production = live Marketplace"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9B5E8"/>
                </a:solidFill>
              </a:defRPr>
            </a:pPr>
            <a:r>
              <a:t>Quantify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7673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Always land in MW and $ — that makes the CSCO lean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9B5E8"/>
                </a:solidFill>
              </a:defRPr>
            </a:pPr>
            <a:r>
              <a:t>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"You choose the model, control the cost, human in the loop"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9B5E8"/>
                </a:solidFill>
              </a:defRPr>
            </a:pPr>
            <a:r>
              <a:t>Label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91947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Plants are real (AL, OH, LA). Data is simulated but labeled.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95544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9B5E8"/>
                </a:solidFill>
              </a:defRPr>
            </a:pPr>
            <a:r>
              <a:t>10-K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549554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Substrate glass + tellurium = publicly disclosed risk factors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f_logo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2468880" cy="41148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583680"/>
            <a:ext cx="12191695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f_icon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1371600"/>
            <a:ext cx="644511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77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9B5E8"/>
                </a:solidFill>
              </a:defRPr>
            </a:pPr>
            <a:r>
              <a:t>Technical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Account: AWS161</a:t>
            </a:r>
            <a:br/>
            <a:r>
              <a:t>Database: FS_INTELLIGENCE</a:t>
            </a:r>
            <a:br/>
            <a:r>
              <a:t>Warehouse: FIRST_SOLAR_WH</a:t>
            </a:r>
            <a:br/>
            <a:br/>
            <a:r>
              <a:t>Agent: FIRST_SOLAR_AGENT</a:t>
            </a:r>
            <a:br/>
            <a:r>
              <a:t>  11 tools | 15 sample questions | 60s / 32K</a:t>
            </a:r>
            <a:br/>
            <a:br/>
            <a:r>
              <a:t>Semantic Views:</a:t>
            </a:r>
            <a:br/>
            <a:r>
              <a:t>  SUPPLY_CHAIN_OPERATIONS_SV (8 tables)</a:t>
            </a:r>
            <a:br/>
            <a:r>
              <a:t>  MANUFACTURING_DEMAND_SV (6 tables)</a:t>
            </a:r>
            <a:br/>
            <a:r>
              <a:t>  RISK_INTELLIGENCE_SV (8 tables + ext signals)</a:t>
            </a:r>
            <a:br/>
            <a:br/>
            <a:r>
              <a:t>Key Scenario Data:</a:t>
            </a:r>
            <a:br/>
            <a:r>
              <a:t>  Alabama glass: 18 days (tight)</a:t>
            </a:r>
            <a:br/>
            <a:r>
              <a:t>  Ohio glass: 45 days (surplus)</a:t>
            </a:r>
            <a:br/>
            <a:r>
              <a:t>  ABC Glass OTD: 97% historical</a:t>
            </a:r>
            <a:br/>
            <a:r>
              <a:t>  External: -19% vol, +71% dwell time</a:t>
            </a:r>
            <a:br/>
            <a:br/>
            <a:r>
              <a:t>GitHub: sfc-gh-sdickson/First-Solar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