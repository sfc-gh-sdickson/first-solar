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29B5E8"/>
                </a:solidFill>
              </a:defRPr>
            </a:pPr>
            <a:r>
              <a:t>First Solar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Supply Chain Intelligence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B7B8D"/>
                </a:solidFill>
              </a:defRPr>
            </a:pPr>
            <a:r>
              <a:t>Snowflake Intelligence Demo  |  4-Act Narrative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5029200"/>
            <a:ext cx="2926080" cy="9144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Alabama</a:t>
            </a:r>
            <a:br/>
            <a:r>
              <a:t>3,500 MW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5029200"/>
            <a:ext cx="2926080" cy="9144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Ohio</a:t>
            </a:r>
            <a:br/>
            <a:r>
              <a:t>3,300 MW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5029200"/>
            <a:ext cx="2926080" cy="9144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Louisiana</a:t>
            </a:r>
            <a:br/>
            <a:r>
              <a:t>3,500 MW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The Core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The point is not that Snowflake's LLM is smarter than Oracle's.</a:t>
            </a:r>
            <a:br/>
            <a:br/>
            <a:r>
              <a:t>Oracle sees what's happening inside First Solar's transactional systems.</a:t>
            </a:r>
            <a:br/>
            <a:br/>
            <a:r>
              <a:t>Snowflake combines that with manufacturing data and what's happening outside First Solar.</a:t>
            </a:r>
            <a:br/>
            <a:br/>
            <a:r>
              <a:t>Same question + broader context = better decision.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5100"/>
                </a:solidFill>
              </a:defRPr>
            </a:pPr>
            <a:r>
              <a:t>Say this at the TOP and the CLOSE of the demo.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The Primary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8D"/>
                </a:solidFill>
              </a:defRPr>
            </a:pPr>
            <a:r>
              <a:t>Ask this three times through the demo: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60320"/>
            <a:ext cx="1051560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Are there any emerging supply-chain risks that could</a:t>
            </a:r>
            <a:br/>
            <a:r>
              <a:t>cause us to miss our production plan over the next 90 days?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Act 1:  No risk identified (Oracle data alone)</a:t>
            </a:r>
            <a:br/>
            <a:r>
              <a:t>Act 3:  Risk surfaced (external shipping signals)</a:t>
            </a:r>
            <a:br/>
            <a:r>
              <a:t>Act 4:  Actionable recommendations across sites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7D32"/>
                </a:solidFill>
              </a:defRPr>
            </a:pPr>
            <a:r>
              <a:t>Act 1 -- Oracle / ERP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B8D"/>
                </a:solidFill>
              </a:defRPr>
            </a:pPr>
            <a:r>
              <a:t>Everything looks healthy. No risk visible.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ABC Glass (Monterrey, MX) -- Primary substrate glass supplier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Historical OTD: 97%  |  Quality: 99.5%  |  Risk Score: 2.0/10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Open POs: All on schedule, expected delivery dates on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Alabama glass inventory: 18 days forward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WMS / TMS: All shipments in transit, no flags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846320"/>
            <a:ext cx="10058400" cy="109728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Agent: No material supply risk identified.</a:t>
            </a:r>
            <a:br/>
            <a:r>
              <a:t>Inventory coverage adequate. Deliveries on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26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5100"/>
                </a:solidFill>
              </a:defRPr>
            </a:pPr>
            <a:r>
              <a:t>Note: Oracle is RIGHT here. Within its data, there genuinely is no risk. Data boundary, not failure.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Act 2 -- Add Manufacturing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B8D"/>
                </a:solidFill>
              </a:defRPr>
            </a:pPr>
            <a:r>
              <a:t>Still manageable, but context shows why external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Daily glass consumption: ~530 panels/day at Alabama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Series 7 ramping for Q2 -- NextEra, Invenergy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BOM: 1 substrate glass per module, no substitute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18 days coverage at burn rate = tight, no buffer for disruption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Scheduled deliveries MUST arrive on time to maintain plan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846320"/>
            <a:ext cx="10058400" cy="109728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Agent: Coverage is tight at 18 days given consumption rates,</a:t>
            </a:r>
            <a:br/>
            <a:r>
              <a:t>but scheduled deliveries maintain the production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65100"/>
                </a:solidFill>
              </a:defRPr>
            </a:pPr>
            <a:r>
              <a:t>Act 3 -- External Marketplace Signal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62828"/>
                </a:solidFill>
              </a:defRPr>
            </a:pPr>
            <a:r>
              <a:t>THE REVEAL -- Snowflake Marketplace trade data surfaces the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Export volume on ABC Glass lane: DOWN 19% (100 to 82)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Port dwell times at Laredo: UP 71% (25hr to 43hr)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Shipment delay rate: 0% baseline to 4.5% recent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Transit time increasing: 3.0d to 4.5d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Signal: Possible production slowdown at Monterrey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114800"/>
            <a:ext cx="11247120" cy="1645920"/>
          </a:xfrm>
          <a:prstGeom prst="round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Alabama has ELEVATED substrate-glass supply risk.</a:t>
            </a:r>
            <a:br/>
            <a:r>
              <a:t>Inventory: 18 days. Oracle shows deliveries on schedule, but</a:t>
            </a:r>
            <a:br/>
            <a:r>
              <a:t>external data shows deteriorating lane activity. A 2-week</a:t>
            </a:r>
            <a:br/>
            <a:r>
              <a:t>delivery disruption puts ~134 MW of production at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5100"/>
                </a:solidFill>
              </a:defRPr>
            </a:pPr>
            <a:r>
              <a:t>Flag: External shipping signal is simulated. In production = live Marketplace trade dataset.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6A1B9A"/>
                </a:solidFill>
              </a:defRPr>
            </a:pPr>
            <a:r>
              <a:t>Act 4 -- Operate the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What should we do about the substrate glass risk?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2651760" cy="1645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Expedite</a:t>
            </a:r>
            <a:br/>
            <a:br/>
            <a:r>
              <a:t>ABC Glass -- expedite</a:t>
            </a:r>
            <a:br/>
            <a:r>
              <a:t>in-transit shipments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2011680"/>
            <a:ext cx="2651760" cy="164592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Transfer</a:t>
            </a:r>
            <a:br/>
            <a:br/>
            <a:r>
              <a:t>Ohio has 45d surplus.</a:t>
            </a:r>
            <a:br/>
            <a:r>
              <a:t>2-day transit to 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011680"/>
            <a:ext cx="2651760" cy="16459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Qualify Alt</a:t>
            </a:r>
            <a:br/>
            <a:br/>
            <a:r>
              <a:t>Guardian Glass (MI)</a:t>
            </a:r>
            <a:br/>
            <a:r>
              <a:t>as emergency alt.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2011680"/>
            <a:ext cx="2651760" cy="164592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Prioritize</a:t>
            </a:r>
            <a:br/>
            <a:br/>
            <a:r>
              <a:t>Protect NextEra Q2,</a:t>
            </a:r>
            <a:br/>
            <a:r>
              <a:t>Invenergy Magnolia.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5100"/>
                </a:solidFill>
              </a:defRPr>
            </a:pPr>
            <a:r>
              <a:t>Close: "Because the data and its context stay in Snowflake, you choose the model,</a:t>
            </a:r>
            <a:br/>
            <a:r>
              <a:t>control the cost, and keep a human in the loop on the high-dollar calls."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Impact Quantification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Alabama daily production:  9.6 MW/day</a:t>
            </a:r>
            <a:br/>
            <a:br/>
            <a:r>
              <a:t>Glass coverage:  18 days</a:t>
            </a:r>
            <a:br/>
            <a:br/>
            <a:r>
              <a:t>If delivery delayed 2 weeks beyond coverage:</a:t>
            </a:r>
            <a:br/>
            <a:r>
              <a:t>   14 days x 9.6 MW/day = 134 MW at risk</a:t>
            </a:r>
            <a:br/>
            <a:br/>
            <a:r>
              <a:t>At /bin/zsh.30/W module ASP:  134 MW = ~M revenue exposure</a:t>
            </a:r>
            <a:br/>
            <a:br/>
            <a:r>
              <a:t>Customer impact: NextEra Q2 commissioning, Invenergy Magnolia</a:t>
            </a:r>
            <a:br/>
            <a:br/>
            <a:r>
              <a:t>Always land the number in MW and $ -- that is how they think.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Agent Architecture -- 11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5E8"/>
                </a:solidFill>
              </a:defRPr>
            </a:pPr>
            <a:r>
              <a:t>Cortex Analyst (3)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3291840" cy="5943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SupplyChainOps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80360"/>
            <a:ext cx="3291840" cy="5943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ManufacturingDemand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3291840" cy="5943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RiskIntelligence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</a:defRPr>
            </a:pPr>
            <a:r>
              <a:t>Cortex Search (4)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103120"/>
            <a:ext cx="329184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OperationalNotes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880360"/>
            <a:ext cx="329184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SupplierEvents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3657600"/>
            <a:ext cx="329184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RiskProfiles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4434840"/>
            <a:ext cx="329184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ExternalSignals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5100"/>
                </a:solidFill>
              </a:defRPr>
            </a:pPr>
            <a:r>
              <a:t>UDF Functions (4)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103120"/>
            <a:ext cx="3291840" cy="59436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StockoutPredictor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2880360"/>
            <a:ext cx="3291840" cy="59436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DemandForecast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3657600"/>
            <a:ext cx="3291840" cy="59436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MaterialRisk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434840"/>
            <a:ext cx="3291840" cy="59436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SupplyChainKPIs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Demo Flow -- The Arc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651760" cy="1645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Act 1</a:t>
            </a:r>
            <a:br/>
            <a:r>
              <a:t>Oracle says</a:t>
            </a:r>
            <a:br/>
            <a:r>
              <a:t>no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&gt;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828800"/>
            <a:ext cx="2651760" cy="164592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Act 2</a:t>
            </a:r>
            <a:br/>
            <a:r>
              <a:t>Add mfg</a:t>
            </a:r>
            <a:br/>
            <a:r>
              <a:t>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2377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2651760" cy="16459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Act 3</a:t>
            </a:r>
            <a:br/>
            <a:r>
              <a:t>External</a:t>
            </a:r>
            <a:br/>
            <a:r>
              <a:t>risk found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377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828800"/>
            <a:ext cx="2651760" cy="164592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Act 4</a:t>
            </a:r>
            <a:br/>
            <a:r>
              <a:t>Recommend</a:t>
            </a:r>
            <a:br/>
            <a:r>
              <a:t>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Oracle says no risk  &gt;  add manufacturing + external context  &gt;  same question,</a:t>
            </a:r>
            <a:br/>
            <a:r>
              <a:t>real risk surfaced and quantified  &gt;  agent recommends action across sites  &gt;</a:t>
            </a:r>
            <a:br/>
            <a:r>
              <a:t>AI that helps OPERATE the business, not just answer questions.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Presenter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Persona: VP of Global Supply Chain /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Open and close with the core message (Slide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Protect Oracle: That is a data boundary, not a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Flag synthetic: External shipping signal is simulated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Quantify in MW and dollars -- makes the CSCO lean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Close: You choose the model, control cost, human in the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7548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Plants are real (AL, OH, LA) -- data is simulated but labeled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Substrate glass + tellurium = 10-K risk factors (public)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Technical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Account: AWS161  |  DB: FS_INTELLIGENCE  |  WH: FIRST_SOLAR_WH</a:t>
            </a:r>
            <a:br/>
            <a:br/>
            <a:r>
              <a:t>Agent: FIRST_SOLAR_AGENT (11 tools, 15 sample questions)</a:t>
            </a:r>
            <a:br/>
            <a:br/>
            <a:r>
              <a:t>Semantic Views:</a:t>
            </a:r>
            <a:br/>
            <a:r>
              <a:t>  SUPPLY_CHAIN_OPERATIONS_SV (8 tables)</a:t>
            </a:r>
            <a:br/>
            <a:r>
              <a:t>  MANUFACTURING_DEMAND_SV (6 tables)</a:t>
            </a:r>
            <a:br/>
            <a:r>
              <a:t>  RISK_INTELLIGENCE_SV (8 tables + external signals)</a:t>
            </a:r>
            <a:br/>
            <a:br/>
            <a:r>
              <a:t>Key Data:</a:t>
            </a:r>
            <a:br/>
            <a:r>
              <a:t>  Alabama glass: 18 days (tight)  |  Ohio: 45 days (surplus)</a:t>
            </a:r>
            <a:br/>
            <a:r>
              <a:t>  ABC Glass OTD: 97%  |  External: -19% vol, +71% dwell</a:t>
            </a:r>
            <a:br/>
            <a:br/>
            <a:r>
              <a:t>GitHub: github.com/sfc-gh-sdickson/First-Solar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