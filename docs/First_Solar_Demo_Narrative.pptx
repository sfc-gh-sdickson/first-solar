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</a:defRPr>
            </a:pPr>
            <a:r>
              <a:t>First Solar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Supply Chain Intelligence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E9EAB"/>
                </a:solidFill>
              </a:defRPr>
            </a:pPr>
            <a:r>
              <a:t>Snowflake Intelligence  |  CdTe Manufacturing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9EAB"/>
                </a:solidFill>
              </a:defRPr>
            </a:pPr>
            <a:r>
              <a:t>4-Act Demo 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3200400" cy="822960"/>
          </a:xfrm>
          <a:prstGeom prst="roundRect">
            <a:avLst/>
          </a:prstGeom>
          <a:solidFill>
            <a:srgbClr val="11273F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Alabama | 3,500 MW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5303520"/>
            <a:ext cx="3200400" cy="822960"/>
          </a:xfrm>
          <a:prstGeom prst="roundRect">
            <a:avLst/>
          </a:prstGeom>
          <a:solidFill>
            <a:srgbClr val="11273F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Ohio | 3,300 MW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5303520"/>
            <a:ext cx="3200400" cy="822960"/>
          </a:xfrm>
          <a:prstGeom prst="roundRect">
            <a:avLst/>
          </a:prstGeom>
          <a:solidFill>
            <a:srgbClr val="11273F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Louisiana | 3,500 MW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5E8"/>
                </a:solidFill>
              </a:defRPr>
            </a:pPr>
            <a:r>
              <a:t>The Core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515600" cy="347472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"The point isn't that Snowflake's LLM is smarter than Oracle's.</a:t>
            </a:r>
            <a:br/>
            <a:br/>
            <a:r>
              <a:t>Oracle sees what's happening inside First Solar's transactional systems.</a:t>
            </a:r>
            <a:br/>
            <a:br/>
            <a:r>
              <a:t>Snowflake combines that with manufacturing data and what's happening outside First Solar.</a:t>
            </a:r>
            <a:br/>
            <a:br/>
            <a:r>
              <a:t>Same question + broader context = better decision."</a:t>
            </a:r>
          </a:p>
        </p:txBody>
      </p:sp>
      <p:pic>
        <p:nvPicPr>
          <p:cNvPr id="7" name="Picture 6" descr="icon_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103120"/>
            <a:ext cx="548640" cy="548640"/>
          </a:xfrm>
          <a:prstGeom prst="rect">
            <a:avLst/>
          </a:prstGeom>
        </p:spPr>
      </p:pic>
      <p:pic>
        <p:nvPicPr>
          <p:cNvPr id="8" name="Picture 7" descr="icon_mf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926080"/>
            <a:ext cx="548640" cy="548640"/>
          </a:xfrm>
          <a:prstGeom prst="rect">
            <a:avLst/>
          </a:prstGeom>
        </p:spPr>
      </p:pic>
      <p:pic>
        <p:nvPicPr>
          <p:cNvPr id="9" name="Picture 8" descr="icon_exter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3749039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5100"/>
                </a:solidFill>
              </a:defRPr>
            </a:pPr>
            <a:r>
              <a:t>SAY THIS AT THE OPEN AND THE CLOSE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9B5E8"/>
                </a:solidFill>
              </a:defRPr>
            </a:pPr>
            <a:r>
              <a:t>The Primary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E9EAB"/>
                </a:solidFill>
              </a:defRPr>
            </a:pPr>
            <a:r>
              <a:t>Ask this THREE TIMES through the demo: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972800" cy="146304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"Are there any emerging supply-chain risks that could cause us</a:t>
            </a:r>
            <a:br/>
            <a:r>
              <a:t>to miss our production plan over the next 90 days?"</a:t>
            </a:r>
          </a:p>
        </p:txBody>
      </p:sp>
      <p:pic>
        <p:nvPicPr>
          <p:cNvPr id="8" name="Picture 7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0624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7D32"/>
                </a:solidFill>
              </a:defRPr>
            </a:pPr>
            <a:r>
              <a:t>Act 1:  "No material risk identified."</a:t>
            </a:r>
          </a:p>
        </p:txBody>
      </p:sp>
      <p:pic>
        <p:nvPicPr>
          <p:cNvPr id="10" name="Picture 9" descr="icon_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84632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65100"/>
                </a:solidFill>
              </a:defRPr>
            </a:pPr>
            <a:r>
              <a:t>Act 3:  "ELEVATED RISK — 134 MW at risk at Alabama"</a:t>
            </a:r>
          </a:p>
        </p:txBody>
      </p:sp>
      <p:pic>
        <p:nvPicPr>
          <p:cNvPr id="12" name="Picture 11" descr="icon_transf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86400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A1B9A"/>
                </a:solidFill>
              </a:defRPr>
            </a:pPr>
            <a:r>
              <a:t>Act 4:  "Expedite, transfer from Ohio, qualify Guardian Glass"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1645920" cy="5486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Oracle / ERP View — Everything Looks Healthy</a:t>
            </a:r>
          </a:p>
        </p:txBody>
      </p:sp>
      <p:pic>
        <p:nvPicPr>
          <p:cNvPr id="6" name="Picture 5" descr="icon_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40080"/>
            <a:ext cx="731520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645920"/>
            <a:ext cx="5303520" cy="13716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9B5E8"/>
                </a:solidFill>
              </a:defRPr>
            </a:pPr>
            <a:r>
              <a:t>ABC Glass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Primary glass | Monterrey MX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45920"/>
            <a:ext cx="5303520" cy="13716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7D32"/>
                </a:solidFill>
              </a:defRPr>
            </a:pPr>
            <a:r>
              <a:t>On-Time: 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Quality: 99.5% | Risk: 2.0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00400"/>
            <a:ext cx="5303520" cy="13716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9183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9B5E8"/>
                </a:solidFill>
              </a:defRPr>
            </a:pPr>
            <a:r>
              <a:t>Open POs: On 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3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All delivery dates confirmed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00400"/>
            <a:ext cx="5303520" cy="13716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29183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7D32"/>
                </a:solidFill>
              </a:defRPr>
            </a:pPr>
            <a:r>
              <a:t>Inventory: 18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74903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Alabama forward coverage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46320"/>
            <a:ext cx="10515600" cy="914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4937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Agent: "No material supply risk identified. Inventory coverage adequate."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Oracle is RIGHT here. Data boundary, not failure.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1645920" cy="54864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+ Manufacturing Context — Still Manageable</a:t>
            </a:r>
          </a:p>
        </p:txBody>
      </p:sp>
      <p:pic>
        <p:nvPicPr>
          <p:cNvPr id="6" name="Picture 5" descr="icon_mf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64008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Daily consumption: 530 panels/day at Alabama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Series 7 ramping — NextEra, Invenergy Q2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BOM: 1 glass/module, NO substitute exists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5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18 days coverage = zero buffer for disruption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Deliveries MUST arrive on time to maintain plan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29200"/>
            <a:ext cx="10515600" cy="9144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1206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Agent: "Tight but manageable if deliveries arrive on time."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Sets up WHY external layer is the unlock.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40080"/>
            <a:ext cx="1645920" cy="54864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65100"/>
                </a:solidFill>
              </a:defRPr>
            </a:pPr>
            <a:r>
              <a:t>External Signal — THE REVEAL</a:t>
            </a:r>
          </a:p>
        </p:txBody>
      </p:sp>
      <p:pic>
        <p:nvPicPr>
          <p:cNvPr id="6" name="Picture 5" descr="icon_exter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54864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E9EAB"/>
                </a:solidFill>
              </a:defRPr>
            </a:pPr>
            <a:r>
              <a:t>Snowflake Marketplace trade/shipping data: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2560320" cy="13716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EAB"/>
                </a:solidFill>
              </a:defRPr>
            </a:pPr>
            <a:r>
              <a:t>Export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62828"/>
                </a:solidFill>
              </a:defRPr>
            </a:pPr>
            <a:r>
              <a:t>DOWN 19%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100 → 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828800"/>
            <a:ext cx="2560320" cy="13716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920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EAB"/>
                </a:solidFill>
              </a:defRPr>
            </a:pPr>
            <a:r>
              <a:t>Port Dwell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286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62828"/>
                </a:solidFill>
              </a:defRPr>
            </a:pPr>
            <a:r>
              <a:t>UP 71%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8346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25hr → 43hr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828800"/>
            <a:ext cx="2560320" cy="13716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920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EAB"/>
                </a:solidFill>
              </a:defRPr>
            </a:pPr>
            <a:r>
              <a:t>Delay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286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65100"/>
                </a:solidFill>
              </a:defRPr>
            </a:pPr>
            <a:r>
              <a:t>0% → 4.5%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8346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Emerging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828800"/>
            <a:ext cx="2560320" cy="13716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9202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E9EAB"/>
                </a:solidFill>
              </a:defRPr>
            </a:pPr>
            <a:r>
              <a:t>Transit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2860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65100"/>
                </a:solidFill>
              </a:defRPr>
            </a:pPr>
            <a:r>
              <a:t>UP 50%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8346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3.0d → 4.5d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566160"/>
            <a:ext cx="11247120" cy="15544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57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Agent: "Alabama has ELEVATED substrate-glass supply risk.</a:t>
            </a:r>
            <a:br/>
            <a:r>
              <a:t>Inventory: 18 days. External data shows deteriorating lane.</a:t>
            </a:r>
            <a:br/>
            <a:r>
              <a:t>A 2-week disruption puts ~134 MW of production at risk."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DIRECTOR: "External signal is simulated. In production = live Marketplace dataset."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40080"/>
            <a:ext cx="1645920" cy="5486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Operate the Business</a:t>
            </a:r>
          </a:p>
        </p:txBody>
      </p:sp>
      <p:pic>
        <p:nvPicPr>
          <p:cNvPr id="6" name="Picture 5" descr="icon_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54864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"What should we do about the substrate glass risk?"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2651760" cy="20116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D32"/>
                </a:solidFill>
              </a:defRPr>
            </a:pPr>
            <a:r>
              <a:t>1. EXPEDITE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ABC Glass</a:t>
            </a:r>
            <a:br/>
            <a:r>
              <a:t>in-transit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828800"/>
            <a:ext cx="2651760" cy="20116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9B5E8"/>
                </a:solidFill>
              </a:defRPr>
            </a:pPr>
            <a:r>
              <a:t>2. TRANSFER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37744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Ohio → Alabama</a:t>
            </a:r>
            <a:br/>
            <a:r>
              <a:t>45d surplus, 2d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651760" cy="20116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5100"/>
                </a:solidFill>
              </a:defRPr>
            </a:pPr>
            <a:r>
              <a:t>3. QUALIFY ALT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Guardian Glass</a:t>
            </a:r>
            <a:br/>
            <a:r>
              <a:t>Emergency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1828800"/>
            <a:ext cx="2651760" cy="20116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A1B9A"/>
                </a:solidFill>
              </a:defRPr>
            </a:pPr>
            <a:r>
              <a:t>4. PRIORITIZE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37744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NextEra Q2</a:t>
            </a:r>
            <a:br/>
            <a:r>
              <a:t>Invenergy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06240"/>
            <a:ext cx="10515600" cy="9144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42976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9B5E8"/>
                </a:solidFill>
              </a:defRPr>
            </a:pPr>
            <a:r>
              <a:t>CLOSE: "You choose the model, control the cost, human in the loop."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65100"/>
                </a:solidFill>
              </a:defRPr>
            </a:pPr>
            <a:r>
              <a:t>AI that operates the business, not just answers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Impact — Land It in MW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029200" cy="320040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E9EAB"/>
                </a:solidFill>
              </a:defRPr>
            </a:pPr>
            <a:r>
              <a:t>Production at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C62828"/>
                </a:solidFill>
              </a:defRPr>
            </a:pPr>
            <a:r>
              <a:t>~134 MW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~$40M 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8404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E9EAB"/>
                </a:solidFill>
              </a:defRPr>
            </a:pPr>
            <a:r>
              <a:t>14d × 9.6 MW/day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Alabama: 9.6 MW/day</a:t>
            </a:r>
            <a:br/>
            <a:br/>
            <a:r>
              <a:t>Glass coverage: 18 days</a:t>
            </a:r>
            <a:br/>
            <a:br/>
            <a:r>
              <a:t>2-week delay:</a:t>
            </a:r>
            <a:br/>
            <a:r>
              <a:t>  14 × 9.6 = 134 MW</a:t>
            </a:r>
            <a:br/>
            <a:br/>
            <a:r>
              <a:t>At $0.30/W:</a:t>
            </a:r>
            <a:br/>
            <a:r>
              <a:t>  134 MW = ~$40M</a:t>
            </a:r>
            <a:br/>
            <a:br/>
            <a:r>
              <a:t>Customers at risk:</a:t>
            </a:r>
            <a:br/>
            <a:r>
              <a:t>  NextEra Q2</a:t>
            </a:r>
            <a:br/>
            <a:r>
              <a:t>  Invenergy Magnolia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5100"/>
                </a:solidFill>
              </a:defRPr>
            </a:pPr>
            <a:r>
              <a:t>ALWAYS quantify in MW and $. That makes them lean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Architecture — 11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6400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FIRST_SOLAR_AGENT | YAML | 15 Questions | 60s/32K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Cortex Analyst (3)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SupplyChainOps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2900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ManufacturingDemand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0624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RiskIntelligence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7D32"/>
                </a:solidFill>
              </a:defRPr>
            </a:pPr>
            <a:r>
              <a:t>Cortex Search (4)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65176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OperationalNotes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342900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SupplierEvents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420624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RiskProfiles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59" y="4983479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ExternalSignals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5100"/>
                </a:solidFill>
              </a:defRPr>
            </a:pPr>
            <a:r>
              <a:t>UDF Functions (4)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65176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StockoutPredictor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42900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DemandForecast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206240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MaterialRisk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983479"/>
            <a:ext cx="3383280" cy="6400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SupplyChainKPIs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Demo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560320" cy="18288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 1</a:t>
            </a:r>
            <a:br/>
            <a:r>
              <a:t>Oracle:</a:t>
            </a:r>
            <a:br/>
            <a:r>
              <a:t>no risk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63240" y="2377440"/>
            <a:ext cx="274320" cy="274320"/>
          </a:xfrm>
          <a:prstGeom prst="rightArrow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645920"/>
            <a:ext cx="2560320" cy="18288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 2</a:t>
            </a:r>
            <a:br/>
            <a:r>
              <a:t>+ Mfg</a:t>
            </a:r>
            <a:br/>
            <a:r>
              <a:t>context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9320" y="2377440"/>
            <a:ext cx="274320" cy="274320"/>
          </a:xfrm>
          <a:prstGeom prst="rightArrow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560320" cy="18288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 3</a:t>
            </a:r>
            <a:br/>
            <a:r>
              <a:t>+ External:</a:t>
            </a:r>
            <a:br/>
            <a:r>
              <a:t>risk found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915400" y="2377440"/>
            <a:ext cx="274320" cy="274320"/>
          </a:xfrm>
          <a:prstGeom prst="rightArrow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35440" y="1645920"/>
            <a:ext cx="2560320" cy="18288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ACT 4</a:t>
            </a:r>
            <a:br/>
            <a:r>
              <a:t>Recommend</a:t>
            </a:r>
            <a:br/>
            <a:r>
              <a:t>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11155680" cy="2011680"/>
          </a:xfrm>
          <a:prstGeom prst="roundRect">
            <a:avLst/>
          </a:prstGeom>
          <a:solidFill>
            <a:srgbClr val="0A1E38"/>
          </a:solidFill>
          <a:ln w="25400">
            <a:solidFill>
              <a:srgbClr val="29B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The arc in one line:</a:t>
            </a:r>
            <a:br/>
            <a:br/>
            <a:r>
              <a:t>Oracle says no risk → add manufacturing + external context → same question,</a:t>
            </a:r>
            <a:br/>
            <a:r>
              <a:t>real risk surfaced and quantified → agent recommends cross-site action →</a:t>
            </a:r>
            <a:br/>
            <a:r>
              <a:t>AI that helps OPERATE the business, not just answer questions.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Presenter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Persona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63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VP Global Supply Chain / Manufacturing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Open/Close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Core message slide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Protect Oracle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60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Data boundary, not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Flag Synthetic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External = simulated Marketplace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Quantify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657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MW and $ always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6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Model choice, cost control, human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7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Label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7548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Plants real, data simulated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9B5E8"/>
                </a:solidFill>
              </a:defRPr>
            </a:pPr>
            <a:r>
              <a:t>10-K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303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Glass + tellurium = public risk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4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457200" cy="457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6446520"/>
            <a:ext cx="11247120" cy="27432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3200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9B5E8"/>
                </a:solidFill>
              </a:defRPr>
            </a:pPr>
            <a:r>
              <a:t>Technical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7315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Account: AWS161</a:t>
            </a:r>
            <a:br/>
            <a:r>
              <a:t>Database: FS_INTELLIGENCE</a:t>
            </a:r>
            <a:br/>
            <a:r>
              <a:t>Warehouse: FIRST_SOLAR_WH</a:t>
            </a:r>
            <a:br/>
            <a:br/>
            <a:r>
              <a:t>Agent: FIRST_SOLAR_AGENT</a:t>
            </a:r>
            <a:br/>
            <a:r>
              <a:t>  11 tools | 15 sample questions</a:t>
            </a:r>
            <a:br/>
            <a:r>
              <a:t>  Budget: 60s / 32K tokens</a:t>
            </a:r>
            <a:br/>
            <a:br/>
            <a:r>
              <a:t>Semantic Views:</a:t>
            </a:r>
            <a:br/>
            <a:r>
              <a:t>  SUPPLY_CHAIN_OPERATIONS_SV (8 tables)</a:t>
            </a:r>
            <a:br/>
            <a:r>
              <a:t>  MANUFACTURING_DEMAND_SV (6 tables)</a:t>
            </a:r>
            <a:br/>
            <a:r>
              <a:t>  RISK_INTELLIGENCE_SV (8 tables + ext)</a:t>
            </a:r>
            <a:br/>
            <a:br/>
            <a:r>
              <a:t>Scenario Data:</a:t>
            </a:r>
            <a:br/>
            <a:r>
              <a:t>  Alabama glass: 18d | Ohio: 45d</a:t>
            </a:r>
            <a:br/>
            <a:r>
              <a:t>  ABC Glass OTD: 97%</a:t>
            </a:r>
            <a:br/>
            <a:r>
              <a:t>  External: -19% vol, +71% dwell</a:t>
            </a:r>
            <a:br/>
            <a:br/>
            <a:r>
              <a:t>GitHub: sfc-gh-sdickson/First-Solar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